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94" r:id="rId2"/>
    <p:sldId id="256" r:id="rId3"/>
    <p:sldId id="292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5" r:id="rId12"/>
    <p:sldId id="276" r:id="rId13"/>
    <p:sldId id="277" r:id="rId14"/>
    <p:sldId id="278" r:id="rId15"/>
    <p:sldId id="279" r:id="rId16"/>
    <p:sldId id="280" r:id="rId17"/>
    <p:sldId id="282" r:id="rId18"/>
    <p:sldId id="281" r:id="rId19"/>
    <p:sldId id="258" r:id="rId20"/>
    <p:sldId id="259" r:id="rId21"/>
    <p:sldId id="261" r:id="rId22"/>
    <p:sldId id="263" r:id="rId23"/>
    <p:sldId id="266" r:id="rId24"/>
    <p:sldId id="285" r:id="rId25"/>
    <p:sldId id="286" r:id="rId26"/>
    <p:sldId id="287" r:id="rId27"/>
    <p:sldId id="290" r:id="rId28"/>
    <p:sldId id="291" r:id="rId29"/>
    <p:sldId id="293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spc="3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16524-5A7C-A84E-956C-6E39541F9C1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7DFB6-1D6E-784D-96D7-F5D5875050A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04336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16524-5A7C-A84E-956C-6E39541F9C1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7DFB6-1D6E-784D-96D7-F5D587505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577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 spc="3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16524-5A7C-A84E-956C-6E39541F9C1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7DFB6-1D6E-784D-96D7-F5D5875050A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85133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16524-5A7C-A84E-956C-6E39541F9C1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7DFB6-1D6E-784D-96D7-F5D587505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04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21606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21606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16524-5A7C-A84E-956C-6E39541F9C1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7DFB6-1D6E-784D-96D7-F5D587505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5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16524-5A7C-A84E-956C-6E39541F9C1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7DFB6-1D6E-784D-96D7-F5D587505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313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16524-5A7C-A84E-956C-6E39541F9C1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7DFB6-1D6E-784D-96D7-F5D587505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14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16524-5A7C-A84E-956C-6E39541F9C1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7DFB6-1D6E-784D-96D7-F5D587505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967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16524-5A7C-A84E-956C-6E39541F9C1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7DFB6-1D6E-784D-96D7-F5D587505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959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16524-5A7C-A84E-956C-6E39541F9C1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7DFB6-1D6E-784D-96D7-F5D587505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776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16524-5A7C-A84E-956C-6E39541F9C1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7DFB6-1D6E-784D-96D7-F5D587505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745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262393"/>
            <a:ext cx="9692640" cy="1428929"/>
          </a:xfrm>
          <a:prstGeom prst="rect">
            <a:avLst/>
          </a:prstGeom>
        </p:spPr>
        <p:txBody>
          <a:bodyPr vert="horz" lIns="91440" tIns="27432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fld id="{CFE16524-5A7C-A84E-956C-6E39541F9C1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fld id="{8437DFB6-1D6E-784D-96D7-F5D587505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47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spc="-5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2000" kern="1200" spc="1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1E982-9C46-5046-7929-A06534736D89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040194" y="825910"/>
            <a:ext cx="8111612" cy="2408903"/>
          </a:xfrm>
          <a:noFill/>
        </p:spPr>
        <p:txBody>
          <a:bodyPr>
            <a:noAutofit/>
          </a:bodyPr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VISVESVARAYA TECHNOLOGICAL UNIVERSITY JNANA SANGAMA BELAGAVI-590018</a:t>
            </a:r>
            <a:br>
              <a:rPr lang="en-IN" sz="3600" dirty="0">
                <a:solidFill>
                  <a:schemeClr val="tx1"/>
                </a:solidFill>
              </a:rPr>
            </a:br>
            <a:br>
              <a:rPr lang="en-IN" sz="3600" dirty="0">
                <a:solidFill>
                  <a:schemeClr val="tx1"/>
                </a:solidFill>
              </a:rPr>
            </a:br>
            <a:br>
              <a:rPr lang="en-IN" sz="3600" dirty="0">
                <a:solidFill>
                  <a:schemeClr val="tx1"/>
                </a:solidFill>
              </a:rPr>
            </a:br>
            <a:br>
              <a:rPr lang="en-IN" sz="36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SOCIAL CONNECT AND RESPONSIBILITIES(BSCK3O7)</a:t>
            </a:r>
            <a:endParaRPr lang="en-IN" sz="36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0F0926-84E9-F236-775D-186A2CC30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6456" y="1265370"/>
            <a:ext cx="1577477" cy="8916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C90F08-4A78-68D5-0A00-C7ACDBE7D0FE}"/>
              </a:ext>
            </a:extLst>
          </p:cNvPr>
          <p:cNvSpPr txBox="1"/>
          <p:nvPr/>
        </p:nvSpPr>
        <p:spPr>
          <a:xfrm>
            <a:off x="1504335" y="3623188"/>
            <a:ext cx="91734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dirty="0"/>
              <a:t>Under the guidance of </a:t>
            </a:r>
          </a:p>
          <a:p>
            <a:pPr algn="ctr"/>
            <a:r>
              <a:rPr lang="en-US" dirty="0"/>
              <a:t>Mr. MANIKANTA K</a:t>
            </a:r>
          </a:p>
          <a:p>
            <a:pPr algn="ctr"/>
            <a:r>
              <a:rPr lang="en-US" dirty="0"/>
              <a:t> ASSISTANCE PROFESSOR, 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DEPARTMENT OF COMPUTER SCIENCE ENGINEERING</a:t>
            </a:r>
          </a:p>
          <a:p>
            <a:pPr algn="ctr"/>
            <a:r>
              <a:rPr lang="en-US" dirty="0"/>
              <a:t> M S ENGINEERING COLLEGE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8794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8AC4F-FFDD-9DAE-C1B4-754BE17B29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63485"/>
            <a:ext cx="9144000" cy="174647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SOCIAL CONNECT AND</a:t>
            </a:r>
            <a:br>
              <a:rPr lang="en-US" dirty="0"/>
            </a:br>
            <a:r>
              <a:rPr lang="en-US" dirty="0"/>
              <a:t>RESPONSIBILITIES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CAC6D2-EE4A-B0EF-F464-1CAAF7932F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6955" y="4299154"/>
            <a:ext cx="9418320" cy="1691640"/>
          </a:xfrm>
        </p:spPr>
        <p:txBody>
          <a:bodyPr>
            <a:normAutofit/>
          </a:bodyPr>
          <a:lstStyle/>
          <a:p>
            <a:r>
              <a:rPr lang="en-GB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BY-</a:t>
            </a:r>
          </a:p>
          <a:p>
            <a:r>
              <a:rPr lang="en-GB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POORNIKA R      1ME24CS054</a:t>
            </a:r>
          </a:p>
          <a:p>
            <a:r>
              <a:rPr lang="en-GB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SPANDANA B      1ME24CS085</a:t>
            </a:r>
            <a:endParaRPr lang="en-US" sz="2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3367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4F10F-29C3-48CD-9B54-158FBEB27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502" y="-194553"/>
            <a:ext cx="10515600" cy="6269139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PLANTATION AND</a:t>
            </a:r>
            <a:br>
              <a:rPr lang="en-US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ADOPTION OF TREE</a:t>
            </a:r>
          </a:p>
        </p:txBody>
      </p:sp>
    </p:spTree>
    <p:extLst>
      <p:ext uri="{BB962C8B-B14F-4D97-AF65-F5344CB8AC3E}">
        <p14:creationId xmlns:p14="http://schemas.microsoft.com/office/powerpoint/2010/main" val="2330895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F82EF-9859-89A4-0984-05F396059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5470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ROSES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9E044-9B01-506E-2D85-224C9A0C2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137" y="1491661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Roses are among the most popular and beloved flowering plants in the world. </a:t>
            </a:r>
          </a:p>
          <a:p>
            <a:r>
              <a:rPr lang="en-US" sz="2400" dirty="0"/>
              <a:t>They have been cultivated for thousands of years, admired for their stunning </a:t>
            </a:r>
          </a:p>
          <a:p>
            <a:r>
              <a:rPr lang="en-US" sz="2400" dirty="0"/>
              <a:t>blooms, enchanting fragrance, and rich symbolism.</a:t>
            </a:r>
          </a:p>
          <a:p>
            <a:r>
              <a:rPr lang="en-US" sz="2400" dirty="0"/>
              <a:t>Scientific </a:t>
            </a:r>
            <a:r>
              <a:rPr lang="en-US" sz="2400" dirty="0" err="1"/>
              <a:t>name:Genus</a:t>
            </a:r>
            <a:r>
              <a:rPr lang="en-US" sz="2400" dirty="0"/>
              <a:t> Rosa </a:t>
            </a:r>
          </a:p>
          <a:p>
            <a:r>
              <a:rPr lang="en-US" sz="2400" dirty="0"/>
              <a:t>Family: </a:t>
            </a:r>
            <a:r>
              <a:rPr lang="en-US" sz="2400" dirty="0" err="1"/>
              <a:t>Rosaceae</a:t>
            </a:r>
            <a:endParaRPr lang="en-US" sz="2400" dirty="0"/>
          </a:p>
          <a:p>
            <a:r>
              <a:rPr lang="en-US" sz="2400" dirty="0"/>
              <a:t>Kingdom: Plantae</a:t>
            </a:r>
          </a:p>
          <a:p>
            <a:r>
              <a:rPr lang="en-US" sz="2400" dirty="0"/>
              <a:t>Order: Rosales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595080-2419-4277-A20B-E72E67F19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937" y="3667330"/>
            <a:ext cx="4052898" cy="2694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547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71D28-52A2-31F8-2C7F-8C290C197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INTRODUCTION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F0DBA-8742-1BD1-9B53-BD3E1754B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477" y="1828800"/>
            <a:ext cx="9302755" cy="4387174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Roses (genus Rosa) are among the most popular and beloved flowering plants in </a:t>
            </a:r>
          </a:p>
          <a:p>
            <a:r>
              <a:rPr lang="en-US" sz="2400" dirty="0"/>
              <a:t>the world. They have been cultivated for thousands of years, admired for their </a:t>
            </a:r>
          </a:p>
          <a:p>
            <a:r>
              <a:rPr lang="en-US" sz="2400" dirty="0"/>
              <a:t>stunning blooms, enchanting fragrance, and rich symbolism. Roses are not only </a:t>
            </a:r>
          </a:p>
          <a:p>
            <a:r>
              <a:rPr lang="en-US" sz="2400" dirty="0"/>
              <a:t>significant in horticulture but also play essential roles in culinary, medicinal, and </a:t>
            </a:r>
          </a:p>
          <a:p>
            <a:r>
              <a:rPr lang="en-US" sz="2400" dirty="0"/>
              <a:t>cultural contexts. This report aims to provide a comprehensive overview of the </a:t>
            </a:r>
          </a:p>
          <a:p>
            <a:r>
              <a:rPr lang="en-US" sz="2400" dirty="0"/>
              <a:t>rose plant, detailing its description, properties, uses, and cultural significance.</a:t>
            </a:r>
          </a:p>
        </p:txBody>
      </p:sp>
    </p:spTree>
    <p:extLst>
      <p:ext uri="{BB962C8B-B14F-4D97-AF65-F5344CB8AC3E}">
        <p14:creationId xmlns:p14="http://schemas.microsoft.com/office/powerpoint/2010/main" val="1069638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FC3A0-2253-D386-F769-4BCA40CD5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404" y="194299"/>
            <a:ext cx="9692640" cy="1428929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LEAVES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8EB68-D2CA-582D-9B57-7811C0FAB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1403" y="1828800"/>
            <a:ext cx="9516375" cy="4351337"/>
          </a:xfrm>
        </p:spPr>
        <p:txBody>
          <a:bodyPr>
            <a:noAutofit/>
          </a:bodyPr>
          <a:lstStyle/>
          <a:p>
            <a:r>
              <a:rPr lang="en-US" sz="2400" dirty="0"/>
              <a:t>Roses are perennial shrubs that can vary greatly in size and shape. They typically </a:t>
            </a:r>
          </a:p>
          <a:p>
            <a:r>
              <a:rPr lang="en-US" sz="2400" dirty="0"/>
              <a:t>feature:</a:t>
            </a:r>
          </a:p>
          <a:p>
            <a:r>
              <a:rPr lang="en-US" sz="2400" dirty="0"/>
              <a:t>Leaves</a:t>
            </a:r>
          </a:p>
          <a:p>
            <a:r>
              <a:rPr lang="en-US" sz="2400" dirty="0"/>
              <a:t>Roses have compound leaves, usually consisting of 5 to 9 leaflets. The leaves are:</a:t>
            </a:r>
          </a:p>
          <a:p>
            <a:r>
              <a:rPr lang="en-US" sz="2400" dirty="0"/>
              <a:t> Shape: Oval with serrated edges.</a:t>
            </a:r>
          </a:p>
          <a:p>
            <a:r>
              <a:rPr lang="en-US" sz="2400" dirty="0"/>
              <a:t> Color: Glossy </a:t>
            </a:r>
            <a:r>
              <a:rPr lang="en-US" sz="2400" dirty="0" err="1"/>
              <a:t>green,sometimes</a:t>
            </a:r>
            <a:r>
              <a:rPr lang="en-US" sz="2400" dirty="0"/>
              <a:t> with a reddish hue when young.</a:t>
            </a:r>
          </a:p>
          <a:p>
            <a:r>
              <a:rPr lang="en-US" sz="2400" dirty="0"/>
              <a:t> Texture: Smooth </a:t>
            </a:r>
            <a:r>
              <a:rPr lang="en-US" sz="2400" dirty="0" err="1"/>
              <a:t>orslightly</a:t>
            </a:r>
            <a:r>
              <a:rPr lang="en-US" sz="2400" dirty="0"/>
              <a:t> hairy, depending on the variety.</a:t>
            </a:r>
          </a:p>
        </p:txBody>
      </p:sp>
    </p:spTree>
    <p:extLst>
      <p:ext uri="{BB962C8B-B14F-4D97-AF65-F5344CB8AC3E}">
        <p14:creationId xmlns:p14="http://schemas.microsoft.com/office/powerpoint/2010/main" val="1703925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1F2C8-3836-527A-EEDF-12F354920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860" y="340215"/>
            <a:ext cx="9692640" cy="1428929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STEM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C3435-B081-5A81-CCB6-F982CFC0B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127" y="1848255"/>
            <a:ext cx="8595360" cy="4351337"/>
          </a:xfrm>
        </p:spPr>
        <p:txBody>
          <a:bodyPr/>
          <a:lstStyle/>
          <a:p>
            <a:r>
              <a:rPr lang="en-US" sz="2400" dirty="0"/>
              <a:t>Stems</a:t>
            </a:r>
          </a:p>
          <a:p>
            <a:r>
              <a:rPr lang="en-US" sz="2400" dirty="0"/>
              <a:t>• Structure: Sturdy and woody, providing support for the plant.</a:t>
            </a:r>
          </a:p>
          <a:p>
            <a:r>
              <a:rPr lang="en-US" sz="2400" dirty="0"/>
              <a:t>• Thorns: Most roses have thorns or prickles along the stems, which serve as </a:t>
            </a:r>
          </a:p>
          <a:p>
            <a:r>
              <a:rPr lang="en-US" sz="2400" dirty="0"/>
              <a:t>a natural defense mechanism against herbivores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7493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2BE84-CFBB-D8B5-EDCF-376EF69A8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52665"/>
            <a:ext cx="9692640" cy="1428929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FLOWERS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738E7-3E4D-A556-76A0-546D096DB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860" y="1799617"/>
            <a:ext cx="10421046" cy="4351337"/>
          </a:xfrm>
        </p:spPr>
        <p:txBody>
          <a:bodyPr>
            <a:noAutofit/>
          </a:bodyPr>
          <a:lstStyle/>
          <a:p>
            <a:r>
              <a:rPr lang="en-US" dirty="0"/>
              <a:t>Flowers</a:t>
            </a:r>
          </a:p>
          <a:p>
            <a:r>
              <a:rPr lang="en-US" dirty="0"/>
              <a:t>Roses are famous for their diverse and beautiful blooms:</a:t>
            </a:r>
          </a:p>
          <a:p>
            <a:r>
              <a:rPr lang="en-US" dirty="0"/>
              <a:t>• Petal Arrangement: Petals can range from single to fully double layers, </a:t>
            </a:r>
          </a:p>
          <a:p>
            <a:r>
              <a:rPr lang="en-US" dirty="0"/>
              <a:t>creating a variety of forms.</a:t>
            </a:r>
          </a:p>
          <a:p>
            <a:r>
              <a:rPr lang="en-US" dirty="0"/>
              <a:t>• Colors: Available in nearly every color imaginable, including red, pink, </a:t>
            </a:r>
          </a:p>
          <a:p>
            <a:r>
              <a:rPr lang="en-US" dirty="0"/>
              <a:t>yellow, white, orange, and even blue or green in certain hybrid varieties.</a:t>
            </a:r>
          </a:p>
          <a:p>
            <a:r>
              <a:rPr lang="en-US" dirty="0"/>
              <a:t>• Fragrance: Many roses are highly fragrant, with scents ranging from sweet </a:t>
            </a:r>
          </a:p>
          <a:p>
            <a:r>
              <a:rPr lang="en-US" dirty="0"/>
              <a:t>and floral to rich and spicy. The aroma comes from volatile compounds </a:t>
            </a:r>
          </a:p>
          <a:p>
            <a:r>
              <a:rPr lang="en-US" dirty="0"/>
              <a:t>present in the petals.</a:t>
            </a:r>
          </a:p>
        </p:txBody>
      </p:sp>
    </p:spTree>
    <p:extLst>
      <p:ext uri="{BB962C8B-B14F-4D97-AF65-F5344CB8AC3E}">
        <p14:creationId xmlns:p14="http://schemas.microsoft.com/office/powerpoint/2010/main" val="862159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5206D-2B51-9636-32A1-2B6B5D6B6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HABITAT</a:t>
            </a:r>
            <a:r>
              <a:rPr lang="en-GB" dirty="0"/>
              <a:t> </a:t>
            </a:r>
            <a:r>
              <a:rPr lang="en-GB" dirty="0">
                <a:solidFill>
                  <a:schemeClr val="tx1"/>
                </a:solidFill>
              </a:rPr>
              <a:t>AND</a:t>
            </a:r>
            <a:r>
              <a:rPr lang="en-GB" dirty="0"/>
              <a:t> </a:t>
            </a:r>
            <a:r>
              <a:rPr lang="en-GB" dirty="0">
                <a:solidFill>
                  <a:schemeClr val="tx1"/>
                </a:solidFill>
              </a:rPr>
              <a:t>CULTIVATION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4669B-5715-D07D-315E-6602F9C32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7488" y="1488332"/>
            <a:ext cx="8619744" cy="469180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Roses prefer well-draining soil rich in organic matter. They thrive in full sunlight, </a:t>
            </a:r>
          </a:p>
          <a:p>
            <a:r>
              <a:rPr lang="en-US" dirty="0"/>
              <a:t>requiring 6 to 8 hours of direct sunlight each day. Here are some key cultivation </a:t>
            </a:r>
          </a:p>
          <a:p>
            <a:r>
              <a:rPr lang="en-US" dirty="0"/>
              <a:t>aspects:</a:t>
            </a:r>
          </a:p>
          <a:p>
            <a:r>
              <a:rPr lang="en-US" dirty="0"/>
              <a:t>Soil Requirements</a:t>
            </a:r>
          </a:p>
          <a:p>
            <a:r>
              <a:rPr lang="en-US" dirty="0"/>
              <a:t>• pH Level: Ideally between 6.0 and 6.8.</a:t>
            </a:r>
          </a:p>
          <a:p>
            <a:r>
              <a:rPr lang="en-US" dirty="0"/>
              <a:t>• Drainage: Good drainage is crucial to prevent root rot; heavy clay soils </a:t>
            </a:r>
          </a:p>
          <a:p>
            <a:r>
              <a:rPr lang="en-US" dirty="0"/>
              <a:t>may need to be amended with compost or sand.</a:t>
            </a:r>
          </a:p>
        </p:txBody>
      </p:sp>
    </p:spTree>
    <p:extLst>
      <p:ext uri="{BB962C8B-B14F-4D97-AF65-F5344CB8AC3E}">
        <p14:creationId xmlns:p14="http://schemas.microsoft.com/office/powerpoint/2010/main" val="4292259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40072-B7E8-8CF1-EB87-FC585CC3E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COMMON</a:t>
            </a:r>
            <a:r>
              <a:rPr lang="en-GB" dirty="0"/>
              <a:t> </a:t>
            </a:r>
            <a:r>
              <a:rPr lang="en-GB" dirty="0">
                <a:solidFill>
                  <a:schemeClr val="tx1"/>
                </a:solidFill>
              </a:rPr>
              <a:t>SPECIES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2E4D0-5C52-CC24-39F3-177B0DBEB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1. Rosa rubiginosa: Also known as sweet briar rose, it is noted for its </a:t>
            </a:r>
          </a:p>
          <a:p>
            <a:r>
              <a:rPr lang="en-US"/>
              <a:t>fragrant foliage and can be found in wild habitats across Europe and Asia.</a:t>
            </a:r>
          </a:p>
          <a:p>
            <a:r>
              <a:rPr lang="en-US"/>
              <a:t>2. Rosa gallica: Known as the gallica rose, it has historical significance in </a:t>
            </a:r>
          </a:p>
          <a:p>
            <a:r>
              <a:rPr lang="en-US"/>
              <a:t>gardens and is often used in traditional rose breeding.</a:t>
            </a:r>
          </a:p>
          <a:p>
            <a:r>
              <a:rPr lang="en-US"/>
              <a:t>3. Rosa damascena: Commonly referred to as the damask rose, it is highly </a:t>
            </a:r>
          </a:p>
          <a:p>
            <a:r>
              <a:rPr lang="en-US"/>
              <a:t>valued for its essential oils and is widely used in the perfume industry.</a:t>
            </a:r>
          </a:p>
        </p:txBody>
      </p:sp>
    </p:spTree>
    <p:extLst>
      <p:ext uri="{BB962C8B-B14F-4D97-AF65-F5344CB8AC3E}">
        <p14:creationId xmlns:p14="http://schemas.microsoft.com/office/powerpoint/2010/main" val="3850134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8000"/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19E8C-55F7-E7B1-8E49-878E5AA36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39956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HERITAGE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WALK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CRAFTS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CORNER</a:t>
            </a:r>
            <a:r>
              <a:rPr lang="en-GB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381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D3DD1-E677-EFF0-6453-7CD3E830A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CHENNAKESHAVA</a:t>
            </a:r>
            <a:r>
              <a:rPr lang="en-GB" dirty="0"/>
              <a:t> </a:t>
            </a:r>
            <a:r>
              <a:rPr lang="en-GB" dirty="0">
                <a:solidFill>
                  <a:schemeClr val="tx1"/>
                </a:solidFill>
              </a:rPr>
              <a:t>TEMPLE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7041F-34BD-216F-5143-6E830059E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</a:t>
            </a:r>
            <a:r>
              <a:rPr lang="en-US" dirty="0" err="1"/>
              <a:t>Chennakeshava</a:t>
            </a:r>
            <a:r>
              <a:rPr lang="en-US" dirty="0"/>
              <a:t> Temple, located in </a:t>
            </a:r>
            <a:r>
              <a:rPr lang="en-US" dirty="0" err="1"/>
              <a:t>Somanathapura</a:t>
            </a:r>
            <a:r>
              <a:rPr lang="en-US" dirty="0"/>
              <a:t>, Karnataka, is one of </a:t>
            </a:r>
          </a:p>
          <a:p>
            <a:r>
              <a:rPr lang="en-US" dirty="0"/>
              <a:t>the finest examples of </a:t>
            </a:r>
            <a:r>
              <a:rPr lang="en-US" dirty="0" err="1"/>
              <a:t>Hoysala</a:t>
            </a:r>
            <a:r>
              <a:rPr lang="en-US" dirty="0"/>
              <a:t> architecture and a UNESCO World Heritage </a:t>
            </a:r>
          </a:p>
          <a:p>
            <a:r>
              <a:rPr lang="en-US" dirty="0"/>
              <a:t>site. Built in 1268 CE during the reign of the </a:t>
            </a:r>
            <a:r>
              <a:rPr lang="en-US" dirty="0" err="1"/>
              <a:t>Hoysala</a:t>
            </a:r>
            <a:r>
              <a:rPr lang="en-US" dirty="0"/>
              <a:t> king </a:t>
            </a:r>
            <a:r>
              <a:rPr lang="en-US" dirty="0" err="1"/>
              <a:t>Narasimha</a:t>
            </a:r>
            <a:r>
              <a:rPr lang="en-US" dirty="0"/>
              <a:t> III, this </a:t>
            </a:r>
          </a:p>
          <a:p>
            <a:r>
              <a:rPr lang="en-US" dirty="0"/>
              <a:t>temple was constructed under the patronage of </a:t>
            </a:r>
            <a:r>
              <a:rPr lang="en-US" dirty="0" err="1"/>
              <a:t>Somanatha</a:t>
            </a:r>
            <a:r>
              <a:rPr lang="en-US" dirty="0"/>
              <a:t>, a general in the </a:t>
            </a:r>
          </a:p>
          <a:p>
            <a:r>
              <a:rPr lang="en-US" dirty="0" err="1"/>
              <a:t>Hoysala</a:t>
            </a:r>
            <a:r>
              <a:rPr lang="en-US" dirty="0"/>
              <a:t> army, after whom the town of </a:t>
            </a:r>
            <a:r>
              <a:rPr lang="en-US" dirty="0" err="1"/>
              <a:t>Somanathapura</a:t>
            </a:r>
            <a:r>
              <a:rPr lang="en-US" dirty="0"/>
              <a:t> is named. Dedicated to </a:t>
            </a:r>
          </a:p>
          <a:p>
            <a:r>
              <a:rPr lang="en-US" dirty="0"/>
              <a:t>Lord Vishnu, the temple is a testament to the skill and devotion of the </a:t>
            </a:r>
            <a:r>
              <a:rPr lang="en-US" dirty="0" err="1"/>
              <a:t>Hoysala</a:t>
            </a:r>
            <a:r>
              <a:rPr lang="en-US" dirty="0"/>
              <a:t> </a:t>
            </a:r>
          </a:p>
          <a:p>
            <a:r>
              <a:rPr lang="en-US" dirty="0"/>
              <a:t>craftsmen.</a:t>
            </a:r>
          </a:p>
        </p:txBody>
      </p:sp>
    </p:spTree>
    <p:extLst>
      <p:ext uri="{BB962C8B-B14F-4D97-AF65-F5344CB8AC3E}">
        <p14:creationId xmlns:p14="http://schemas.microsoft.com/office/powerpoint/2010/main" val="923880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8FCDC-1828-2430-AB59-1ACB3DA40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ARCHITECTURAL</a:t>
            </a:r>
            <a:r>
              <a:rPr lang="en-GB" dirty="0"/>
              <a:t> </a:t>
            </a:r>
            <a:r>
              <a:rPr lang="en-GB" dirty="0">
                <a:solidFill>
                  <a:schemeClr val="tx1"/>
                </a:solidFill>
              </a:rPr>
              <a:t>SIGNIFICANCE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25C86-244F-16EA-7839-585D8B582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err="1"/>
              <a:t>Th</a:t>
            </a:r>
            <a:r>
              <a:rPr lang="en-US" dirty="0"/>
              <a:t>e </a:t>
            </a:r>
            <a:r>
              <a:rPr lang="en-US" dirty="0" err="1"/>
              <a:t>Chennakeshava</a:t>
            </a:r>
            <a:r>
              <a:rPr lang="en-US" dirty="0"/>
              <a:t> Temple is renowned for its unique </a:t>
            </a:r>
            <a:r>
              <a:rPr lang="en-US" dirty="0" err="1"/>
              <a:t>Hoysala</a:t>
            </a:r>
            <a:r>
              <a:rPr lang="en-US" dirty="0"/>
              <a:t> architecture, a style that flourished in the 12th and 13th centuries in Karnataka. </a:t>
            </a:r>
          </a:p>
          <a:p>
            <a:pPr marL="0" indent="0">
              <a:buNone/>
            </a:pPr>
            <a:r>
              <a:rPr lang="en-US" dirty="0"/>
              <a:t>The temple is designed in a star-shaped plan, characteristic of </a:t>
            </a:r>
            <a:r>
              <a:rPr lang="en-US" dirty="0" err="1"/>
              <a:t>Hoysala</a:t>
            </a:r>
            <a:r>
              <a:rPr lang="en-US" dirty="0"/>
              <a:t> temples, which gives it an intricate and captivating form. </a:t>
            </a:r>
          </a:p>
          <a:p>
            <a:pPr marL="0" indent="0">
              <a:buNone/>
            </a:pPr>
            <a:r>
              <a:rPr lang="en-US" dirty="0"/>
              <a:t>The temple stands on a raised platform and follows the </a:t>
            </a:r>
            <a:r>
              <a:rPr lang="en-US" dirty="0" err="1"/>
              <a:t>trikutachala</a:t>
            </a:r>
            <a:r>
              <a:rPr lang="en-US" dirty="0"/>
              <a:t> style, consisting of three shrines dedicated to different </a:t>
            </a:r>
          </a:p>
          <a:p>
            <a:pPr marL="0" indent="0">
              <a:buNone/>
            </a:pPr>
            <a:r>
              <a:rPr lang="en-US" dirty="0"/>
              <a:t>forms of Vishnu: </a:t>
            </a:r>
            <a:r>
              <a:rPr lang="en-US" dirty="0" err="1"/>
              <a:t>Keshava</a:t>
            </a:r>
            <a:r>
              <a:rPr lang="en-US" dirty="0"/>
              <a:t>, </a:t>
            </a:r>
            <a:r>
              <a:rPr lang="en-US" dirty="0" err="1"/>
              <a:t>Janardhana</a:t>
            </a:r>
            <a:r>
              <a:rPr lang="en-US" dirty="0"/>
              <a:t>, and </a:t>
            </a:r>
            <a:r>
              <a:rPr lang="en-US" dirty="0" err="1"/>
              <a:t>Venugopala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1095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F4982-C4C5-24AC-4FF0-819CA08E7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Three</a:t>
            </a:r>
            <a:r>
              <a:rPr lang="en-GB" dirty="0"/>
              <a:t> </a:t>
            </a:r>
            <a:r>
              <a:rPr lang="en-GB" dirty="0">
                <a:solidFill>
                  <a:schemeClr val="tx1"/>
                </a:solidFill>
              </a:rPr>
              <a:t>shrines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6011C-4C1D-729B-8D1C-7591FE83F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temple’s three sanctums are dedicated to three forms of Vishnu, and each sanctum contains a statue of Vishnu in various forms:</a:t>
            </a:r>
          </a:p>
          <a:p>
            <a:pPr marL="0" indent="0">
              <a:buNone/>
            </a:pPr>
            <a:r>
              <a:rPr lang="en-US" dirty="0"/>
              <a:t>1. </a:t>
            </a:r>
            <a:r>
              <a:rPr lang="en-US" dirty="0" err="1"/>
              <a:t>Chennakeshava</a:t>
            </a:r>
            <a:r>
              <a:rPr lang="en-US" dirty="0"/>
              <a:t> : The main deity, an idol of Lord Vishnu with a serene, </a:t>
            </a:r>
          </a:p>
          <a:p>
            <a:pPr marL="0" indent="0">
              <a:buNone/>
            </a:pPr>
            <a:r>
              <a:rPr lang="en-US" dirty="0"/>
              <a:t>beautiful expression, standing in a typical </a:t>
            </a:r>
            <a:r>
              <a:rPr lang="en-US" dirty="0" err="1"/>
              <a:t>Hoysala</a:t>
            </a:r>
            <a:r>
              <a:rPr lang="en-US" dirty="0"/>
              <a:t> style.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dirty="0" err="1"/>
              <a:t>Venugopala</a:t>
            </a:r>
            <a:r>
              <a:rPr lang="en-US" dirty="0"/>
              <a:t> : Another form of Vishnu depicted holding a flute, symbolic </a:t>
            </a:r>
          </a:p>
          <a:p>
            <a:pPr marL="0" indent="0">
              <a:buNone/>
            </a:pPr>
            <a:r>
              <a:rPr lang="en-US" dirty="0"/>
              <a:t>of his incarnation as the shepherd Krishna.</a:t>
            </a:r>
          </a:p>
          <a:p>
            <a:pPr marL="0" indent="0">
              <a:buNone/>
            </a:pPr>
            <a:r>
              <a:rPr lang="en-US" dirty="0"/>
              <a:t>3. Keshava : A third form of Vishnu, often shown with attributes such as a </a:t>
            </a:r>
          </a:p>
          <a:p>
            <a:pPr marL="0" indent="0">
              <a:buNone/>
            </a:pPr>
            <a:r>
              <a:rPr lang="en-US" dirty="0"/>
              <a:t>conch and discus.</a:t>
            </a:r>
          </a:p>
        </p:txBody>
      </p:sp>
    </p:spTree>
    <p:extLst>
      <p:ext uri="{BB962C8B-B14F-4D97-AF65-F5344CB8AC3E}">
        <p14:creationId xmlns:p14="http://schemas.microsoft.com/office/powerpoint/2010/main" val="3495710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447CC-77D4-827A-908D-D1AF49395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CULTURAL</a:t>
            </a:r>
            <a:r>
              <a:rPr lang="en-GB" dirty="0"/>
              <a:t> </a:t>
            </a:r>
            <a:r>
              <a:rPr lang="en-GB" dirty="0">
                <a:solidFill>
                  <a:schemeClr val="tx1"/>
                </a:solidFill>
              </a:rPr>
              <a:t>AND</a:t>
            </a:r>
            <a:r>
              <a:rPr lang="en-GB" dirty="0"/>
              <a:t> </a:t>
            </a:r>
            <a:r>
              <a:rPr lang="en-GB" dirty="0">
                <a:solidFill>
                  <a:schemeClr val="tx1"/>
                </a:solidFill>
              </a:rPr>
              <a:t>RELIGIOUS</a:t>
            </a:r>
            <a:r>
              <a:rPr lang="en-GB" dirty="0"/>
              <a:t> </a:t>
            </a:r>
            <a:r>
              <a:rPr lang="en-GB" dirty="0">
                <a:solidFill>
                  <a:schemeClr val="tx1"/>
                </a:solidFill>
              </a:rPr>
              <a:t>IMPORTANCE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5E352-0AB9-EB6F-2AF1-44CCE43EF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Cultural and Religious Importance :</a:t>
            </a:r>
          </a:p>
          <a:p>
            <a:pPr marL="0" indent="0">
              <a:buNone/>
            </a:pPr>
            <a:r>
              <a:rPr lang="en-GB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Chennakeshava</a:t>
            </a:r>
            <a:r>
              <a:rPr lang="en-GB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Temple is not just an architectural marvel but also a </a:t>
            </a:r>
          </a:p>
          <a:p>
            <a:pPr marL="0" indent="0">
              <a:buNone/>
            </a:pPr>
            <a:r>
              <a:rPr lang="en-GB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living symbol of the religious and cultural heritage of the </a:t>
            </a:r>
            <a:r>
              <a:rPr lang="en-GB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Hoysala</a:t>
            </a:r>
            <a:r>
              <a:rPr lang="en-GB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Empire. </a:t>
            </a:r>
          </a:p>
          <a:p>
            <a:pPr marL="0" indent="0">
              <a:buNone/>
            </a:pPr>
            <a:r>
              <a:rPr lang="en-GB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temple continues to serve as an important pilgrimage site for Hindus, 
particularly followers of the Vaishnavism tradition. Its artistry and spiritual </a:t>
            </a:r>
          </a:p>
          <a:p>
            <a:pPr marL="0" indent="0">
              <a:buNone/>
            </a:pPr>
            <a:r>
              <a:rPr lang="en-GB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draw visitors from around the world.</a:t>
            </a:r>
          </a:p>
          <a:p>
            <a:pPr marL="0" indent="0">
              <a:buNone/>
            </a:pPr>
            <a:r>
              <a:rPr lang="en-GB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temple’s significance extends beyond religion, as it reflects the zenith of </a:t>
            </a:r>
          </a:p>
          <a:p>
            <a:pPr marL="0" indent="0">
              <a:buNone/>
            </a:pPr>
            <a:r>
              <a:rPr lang="en-GB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Hoysala</a:t>
            </a:r>
            <a:r>
              <a:rPr lang="en-GB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art, architecture, and culture during the 13</a:t>
            </a:r>
            <a:r>
              <a:rPr lang="en-GB" sz="3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GB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century. It is a testament </a:t>
            </a:r>
          </a:p>
          <a:p>
            <a:pPr marL="0" indent="0">
              <a:buNone/>
            </a:pPr>
            <a:r>
              <a:rPr lang="en-GB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artistic, cultural, and intellectual achievements of the </a:t>
            </a:r>
            <a:r>
              <a:rPr lang="en-GB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Hoysala</a:t>
            </a:r>
            <a:r>
              <a:rPr lang="en-GB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dynasty</a:t>
            </a:r>
            <a:r>
              <a:rPr lang="en-GB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984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D6ED7-B19D-C7BF-19B8-6D41B5BA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CONCLUSION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D1C47-692F-549C-3DF3-3C884002E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use of soapstone, the triple-shrine design, and the vast array of </a:t>
            </a:r>
          </a:p>
          <a:p>
            <a:r>
              <a:rPr lang="en-US"/>
              <a:t>mythological sculptures are indicative of a highly evolved understanding of </a:t>
            </a:r>
          </a:p>
          <a:p>
            <a:r>
              <a:rPr lang="en-US"/>
              <a:t>both form and function. Moreover, the Chennakeshava Temple’s sculptural </a:t>
            </a:r>
          </a:p>
          <a:p>
            <a:r>
              <a:rPr lang="en-US"/>
              <a:t>richness provides invaluable insight into the spiritual, social, and artistic life of </a:t>
            </a:r>
          </a:p>
          <a:p>
            <a:r>
              <a:rPr lang="en-US"/>
              <a:t>the 13th-century Hoysala period.</a:t>
            </a:r>
          </a:p>
        </p:txBody>
      </p:sp>
    </p:spTree>
    <p:extLst>
      <p:ext uri="{BB962C8B-B14F-4D97-AF65-F5344CB8AC3E}">
        <p14:creationId xmlns:p14="http://schemas.microsoft.com/office/powerpoint/2010/main" val="3902734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8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7E008-0547-C908-AD8F-53F4850D8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8558" y="2631670"/>
            <a:ext cx="6584004" cy="1325563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ORGANIC FARMING AND WASTE MANAGEMENT</a:t>
            </a:r>
            <a:r>
              <a:rPr lang="en-GB" sz="3600" dirty="0">
                <a:solidFill>
                  <a:schemeClr val="tx1"/>
                </a:solidFill>
              </a:rPr>
              <a:t> </a:t>
            </a:r>
            <a:endParaRPr 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9110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EA61B-29D4-F931-619D-EA5226ECE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INTRODUCTION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D40FB-D17A-9CBC-76B0-A5459529B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8815983" cy="476680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On 3—5 3une, the Global Landscapes Forum (GLF) achieved the first environmental </a:t>
            </a:r>
          </a:p>
          <a:p>
            <a:r>
              <a:rPr lang="en-US" dirty="0"/>
              <a:t>digital knowledge commons of its kind at the GLF Bonn Digital Conference.</a:t>
            </a:r>
          </a:p>
          <a:p>
            <a:r>
              <a:rPr lang="en-US" dirty="0"/>
              <a:t>• Nearly 5,000 </a:t>
            </a:r>
            <a:r>
              <a:rPr lang="en-US" dirty="0" err="1"/>
              <a:t>participantsjoined</a:t>
            </a:r>
            <a:r>
              <a:rPr lang="en-US" dirty="0"/>
              <a:t> from 146 countries and 6 </a:t>
            </a:r>
            <a:r>
              <a:rPr lang="en-US" dirty="0" err="1"/>
              <a:t>continentsto</a:t>
            </a:r>
            <a:r>
              <a:rPr lang="en-US" dirty="0"/>
              <a:t> </a:t>
            </a:r>
          </a:p>
          <a:p>
            <a:r>
              <a:rPr lang="en-US" dirty="0"/>
              <a:t>discuss how to rebuild the planet's food systems after the coronavirus </a:t>
            </a:r>
          </a:p>
          <a:p>
            <a:r>
              <a:rPr lang="en-US" dirty="0"/>
              <a:t>pandemic. The numbers</a:t>
            </a:r>
          </a:p>
          <a:p>
            <a:r>
              <a:rPr lang="en-US" dirty="0"/>
              <a:t>— 300 speakers, hundreds of organizations, 235,000 engagements on social, </a:t>
            </a:r>
          </a:p>
          <a:p>
            <a:r>
              <a:rPr lang="en-US" dirty="0"/>
              <a:t>22,000 messages plus 2,500 articles exchanged amongst participants —</a:t>
            </a:r>
          </a:p>
          <a:p>
            <a:r>
              <a:rPr lang="en-US" dirty="0"/>
              <a:t>highlighted the need for </a:t>
            </a:r>
            <a:r>
              <a:rPr lang="en-US" dirty="0" err="1"/>
              <a:t>platformslike</a:t>
            </a:r>
            <a:r>
              <a:rPr lang="en-US" dirty="0"/>
              <a:t> GLF to grow and continue including the </a:t>
            </a:r>
          </a:p>
          <a:p>
            <a:r>
              <a:rPr lang="en-US" dirty="0"/>
              <a:t>voices of diverse knowledge holders from every corner of the world</a:t>
            </a:r>
          </a:p>
        </p:txBody>
      </p:sp>
    </p:spTree>
    <p:extLst>
      <p:ext uri="{BB962C8B-B14F-4D97-AF65-F5344CB8AC3E}">
        <p14:creationId xmlns:p14="http://schemas.microsoft.com/office/powerpoint/2010/main" val="9080949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43650-EB05-7889-6AFF-EC1847B8E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EBDBB11-47FF-BA1C-2FD8-7061C3B1252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68095" y="767590"/>
            <a:ext cx="10486417" cy="5342276"/>
          </a:xfrm>
        </p:spPr>
        <p:txBody>
          <a:bodyPr>
            <a:normAutofit/>
          </a:bodyPr>
          <a:lstStyle/>
          <a:p>
            <a:r>
              <a:rPr lang="en-US" dirty="0"/>
              <a:t>Although the earth is rich in water, only one percent is liquid fresh </a:t>
            </a:r>
          </a:p>
          <a:p>
            <a:r>
              <a:rPr lang="en-US" dirty="0"/>
              <a:t>water, the form </a:t>
            </a:r>
            <a:r>
              <a:rPr lang="en-US" dirty="0" err="1"/>
              <a:t>werequire</a:t>
            </a:r>
            <a:r>
              <a:rPr lang="en-US" dirty="0"/>
              <a:t> for our highest priority needs. The </a:t>
            </a:r>
          </a:p>
          <a:p>
            <a:r>
              <a:rPr lang="en-US" dirty="0"/>
              <a:t>demands on this liquid fresh water are growing, and many scientists </a:t>
            </a:r>
          </a:p>
          <a:p>
            <a:r>
              <a:rPr lang="en-US" dirty="0"/>
              <a:t>feel that a future shortage of fresh water will be eminent. Water </a:t>
            </a:r>
          </a:p>
          <a:p>
            <a:r>
              <a:rPr lang="en-US" dirty="0"/>
              <a:t>conservation and </a:t>
            </a:r>
          </a:p>
          <a:p>
            <a:r>
              <a:rPr lang="en-US" dirty="0"/>
              <a:t>. management emphasizes water quality protection, a </a:t>
            </a:r>
            <a:r>
              <a:rPr lang="en-US" dirty="0" err="1"/>
              <a:t>growingarea</a:t>
            </a:r>
            <a:r>
              <a:rPr lang="en-US" dirty="0"/>
              <a:t> of </a:t>
            </a:r>
          </a:p>
          <a:p>
            <a:r>
              <a:rPr lang="en-US" dirty="0"/>
              <a:t>employment and environmental concern. </a:t>
            </a:r>
          </a:p>
          <a:p>
            <a:r>
              <a:rPr lang="en-US" dirty="0"/>
              <a:t>. Water conservation and management encompasses the policies, </a:t>
            </a:r>
          </a:p>
          <a:p>
            <a:r>
              <a:rPr lang="en-US" dirty="0"/>
              <a:t>strategies and activities made to manage water as a sustainable </a:t>
            </a:r>
          </a:p>
          <a:p>
            <a:r>
              <a:rPr lang="en-US" dirty="0"/>
              <a:t>resource, to protect the water environment, and to meet current and </a:t>
            </a:r>
          </a:p>
          <a:p>
            <a:r>
              <a:rPr lang="en-US" dirty="0"/>
              <a:t>future</a:t>
            </a:r>
          </a:p>
        </p:txBody>
      </p:sp>
    </p:spTree>
    <p:extLst>
      <p:ext uri="{BB962C8B-B14F-4D97-AF65-F5344CB8AC3E}">
        <p14:creationId xmlns:p14="http://schemas.microsoft.com/office/powerpoint/2010/main" val="2746489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9C111-8E8B-E82A-0756-534F83835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4972"/>
            <a:ext cx="10515600" cy="1325563"/>
          </a:xfrm>
        </p:spPr>
        <p:txBody>
          <a:bodyPr>
            <a:noAutofit/>
          </a:bodyPr>
          <a:lstStyle/>
          <a:p>
            <a:r>
              <a:rPr 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Conservation &amp; Management (WCM) is a collaborated publishing </a:t>
            </a:r>
            <a:br>
              <a:rPr 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projectunder</a:t>
            </a:r>
            <a:r>
              <a:rPr 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VOLKSON PRESS and Zibeline International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77FC1-D339-874C-11CE-884EC1E4F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74533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isused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Factors such as climate change will increase pressures 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water resources especially in industrial and agriculture.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water conservation and management has economic benefits and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protectthe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environment. The more water you use, the more you</a:t>
            </a:r>
          </a:p>
        </p:txBody>
      </p:sp>
    </p:spTree>
    <p:extLst>
      <p:ext uri="{BB962C8B-B14F-4D97-AF65-F5344CB8AC3E}">
        <p14:creationId xmlns:p14="http://schemas.microsoft.com/office/powerpoint/2010/main" val="11837205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DCF40-6B8C-1A74-4DF8-E754D1DC6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OBJECTIVE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9C74C-A4F2-F102-BB7C-5F1B1E5D9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”Water conservation and management welcomes original contributions that </a:t>
            </a:r>
          </a:p>
          <a:p>
            <a:r>
              <a:rPr lang="en-US"/>
              <a:t>potentiallyinvolve multidisciplinary research and considers sustainable </a:t>
            </a:r>
          </a:p>
          <a:p>
            <a:r>
              <a:rPr lang="en-US"/>
              <a:t>management and conservation of water as a valuable resource. </a:t>
            </a:r>
          </a:p>
          <a:p>
            <a:r>
              <a:rPr lang="en-US"/>
              <a:t>*“ Contributions should have relevance and implication on sustainable water </a:t>
            </a:r>
          </a:p>
          <a:p>
            <a:r>
              <a:rPr lang="en-US"/>
              <a:t>conservation practices from individual household to community level, as well </a:t>
            </a:r>
          </a:p>
          <a:p>
            <a:r>
              <a:rPr lang="en-US"/>
              <a:t>as fromregional, national and international scales. Journal publishes original </a:t>
            </a:r>
          </a:p>
          <a:p>
            <a:r>
              <a:rPr lang="en-US"/>
              <a:t>research papers,critical and comprehensive reviews, analyses and case studies </a:t>
            </a:r>
          </a:p>
          <a:p>
            <a:r>
              <a:rPr lang="en-US"/>
              <a:t>on topics, which include but are not limited to:</a:t>
            </a:r>
          </a:p>
        </p:txBody>
      </p:sp>
    </p:spTree>
    <p:extLst>
      <p:ext uri="{BB962C8B-B14F-4D97-AF65-F5344CB8AC3E}">
        <p14:creationId xmlns:p14="http://schemas.microsoft.com/office/powerpoint/2010/main" val="9167247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704E11-8E3B-B40E-1DA2-10A78CA9D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7488" y="677863"/>
            <a:ext cx="9692640" cy="1428929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IMPORTANCE</a:t>
            </a:r>
            <a:r>
              <a:rPr lang="en-GB" dirty="0"/>
              <a:t> </a:t>
            </a:r>
            <a:r>
              <a:rPr lang="en-GB" dirty="0">
                <a:solidFill>
                  <a:schemeClr val="tx1"/>
                </a:solidFill>
              </a:rPr>
              <a:t>OF</a:t>
            </a:r>
            <a:r>
              <a:rPr lang="en-GB" dirty="0"/>
              <a:t> </a:t>
            </a:r>
            <a:r>
              <a:rPr lang="en-GB" dirty="0">
                <a:solidFill>
                  <a:schemeClr val="tx1"/>
                </a:solidFill>
              </a:rPr>
              <a:t>WATER</a:t>
            </a:r>
            <a:r>
              <a:rPr lang="en-GB" dirty="0"/>
              <a:t> </a:t>
            </a:r>
            <a:r>
              <a:rPr lang="en-GB" dirty="0">
                <a:solidFill>
                  <a:schemeClr val="tx1"/>
                </a:solidFill>
              </a:rPr>
              <a:t>CONSERVATION</a:t>
            </a:r>
            <a:r>
              <a:rPr lang="en-GB" dirty="0"/>
              <a:t> </a:t>
            </a:r>
            <a:br>
              <a:rPr lang="en-GB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8AB1C-FEE9-4E61-6A02-225AC1D81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Water is a resource . The current water supply on Earth comes from surface water </a:t>
            </a:r>
          </a:p>
          <a:p>
            <a:r>
              <a:rPr lang="en-US"/>
              <a:t>runoh, groundwater, and snow. This supply comes from the same sources that have </a:t>
            </a:r>
          </a:p>
          <a:p>
            <a:r>
              <a:rPr lang="en-US"/>
              <a:t>been used for thousands of years, which is threatened by overdevelopment, pollution, </a:t>
            </a:r>
          </a:p>
          <a:p>
            <a:r>
              <a:rPr lang="en-US"/>
              <a:t>and global warming. Only three percent of the Earth's water supply is made up of </a:t>
            </a:r>
          </a:p>
          <a:p>
            <a:r>
              <a:rPr lang="en-US"/>
              <a:t>freshwater, with only half a percent of that available for human consumption</a:t>
            </a:r>
          </a:p>
        </p:txBody>
      </p:sp>
    </p:spTree>
    <p:extLst>
      <p:ext uri="{BB962C8B-B14F-4D97-AF65-F5344CB8AC3E}">
        <p14:creationId xmlns:p14="http://schemas.microsoft.com/office/powerpoint/2010/main" val="3653175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3B581-B72D-367E-672F-67D10C6CF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135934"/>
            <a:ext cx="9692640" cy="1428929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WATER</a:t>
            </a:r>
            <a:r>
              <a:rPr lang="en-GB" dirty="0"/>
              <a:t> </a:t>
            </a:r>
            <a:r>
              <a:rPr lang="en-GB" dirty="0">
                <a:solidFill>
                  <a:schemeClr val="tx1"/>
                </a:solidFill>
              </a:rPr>
              <a:t>SCARCITY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12315-EA1F-B37D-5EDF-EDFCB0FD3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663" y="1564864"/>
            <a:ext cx="9692639" cy="484566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Population Growth: The world's growing population </a:t>
            </a:r>
            <a:r>
              <a:rPr lang="en-US" dirty="0" err="1"/>
              <a:t>putssignificant</a:t>
            </a:r>
            <a:r>
              <a:rPr lang="en-US" dirty="0"/>
              <a:t> pressure on water </a:t>
            </a:r>
          </a:p>
          <a:p>
            <a:r>
              <a:rPr lang="en-US" dirty="0"/>
              <a:t>resources, leading to increased demand for domestic use, agriculture, and industrial </a:t>
            </a:r>
          </a:p>
          <a:p>
            <a:r>
              <a:rPr lang="en-US" dirty="0"/>
              <a:t>activities. Meeting the water needs of a growing population becomes </a:t>
            </a:r>
            <a:r>
              <a:rPr lang="en-US" dirty="0" err="1"/>
              <a:t>amajor</a:t>
            </a:r>
            <a:r>
              <a:rPr lang="en-US" dirty="0"/>
              <a:t> challenge.</a:t>
            </a:r>
          </a:p>
          <a:p>
            <a:r>
              <a:rPr lang="en-US" dirty="0"/>
              <a:t>2.Climate Change: Climate change exacerbates </a:t>
            </a:r>
            <a:r>
              <a:rPr lang="en-US" dirty="0" err="1"/>
              <a:t>waterscarcity</a:t>
            </a:r>
            <a:r>
              <a:rPr lang="en-US" dirty="0"/>
              <a:t> by altering precipitation</a:t>
            </a:r>
          </a:p>
          <a:p>
            <a:r>
              <a:rPr lang="en-US" dirty="0"/>
              <a:t>patterns, causing droughts, and affecting the availability of water resources. Erratic </a:t>
            </a:r>
          </a:p>
          <a:p>
            <a:r>
              <a:rPr lang="en-US" dirty="0"/>
              <a:t>weather</a:t>
            </a:r>
          </a:p>
          <a:p>
            <a:r>
              <a:rPr lang="en-US" dirty="0"/>
              <a:t>patterns and more frequent and severe droughts intensify the </a:t>
            </a:r>
            <a:r>
              <a:rPr lang="en-US" dirty="0" err="1"/>
              <a:t>waterstress</a:t>
            </a:r>
            <a:r>
              <a:rPr lang="en-US" dirty="0"/>
              <a:t> faced by many </a:t>
            </a:r>
          </a:p>
          <a:p>
            <a:r>
              <a:rPr lang="en-US" dirty="0"/>
              <a:t>regions.</a:t>
            </a:r>
          </a:p>
        </p:txBody>
      </p:sp>
    </p:spTree>
    <p:extLst>
      <p:ext uri="{BB962C8B-B14F-4D97-AF65-F5344CB8AC3E}">
        <p14:creationId xmlns:p14="http://schemas.microsoft.com/office/powerpoint/2010/main" val="10279851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E41B0-E652-A508-6218-EB18E4A9D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RAIN</a:t>
            </a:r>
            <a:r>
              <a:rPr lang="en-GB" dirty="0"/>
              <a:t> </a:t>
            </a:r>
            <a:r>
              <a:rPr lang="en-GB" dirty="0">
                <a:solidFill>
                  <a:schemeClr val="tx1"/>
                </a:solidFill>
              </a:rPr>
              <a:t>WATER</a:t>
            </a:r>
            <a:r>
              <a:rPr lang="en-GB" dirty="0"/>
              <a:t> </a:t>
            </a:r>
            <a:r>
              <a:rPr lang="en-GB" dirty="0">
                <a:solidFill>
                  <a:schemeClr val="tx1"/>
                </a:solidFill>
              </a:rPr>
              <a:t>HARVESTING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23DB4-8373-74B5-DBC7-4E59F2C27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Rainwater Harvesting
Rainwater harvesting systems can vary from the basic small ones, like the attachment of a water 
butt to a rainwater down-pipe, to the complexly designed large ones like those which collect 
</a:t>
            </a:r>
            <a:r>
              <a:rPr lang="en-GB" dirty="0" err="1"/>
              <a:t>rainwaterfrom</a:t>
            </a:r>
            <a:r>
              <a:rPr lang="en-GB" dirty="0"/>
              <a:t> large areas and serve momentous numbers of properties. When it comes to </a:t>
            </a:r>
          </a:p>
          <a:p>
            <a:pPr marL="0" indent="0">
              <a:buNone/>
            </a:pPr>
            <a:r>
              <a:rPr lang="en-GB" dirty="0"/>
              <a:t>domestic purposes, these systems are relevant to both commercial and domestic properties.</a:t>
            </a:r>
          </a:p>
          <a:p>
            <a:pPr marL="0" indent="0">
              <a:buNone/>
            </a:pPr>
            <a:r>
              <a:rPr lang="en-GB" dirty="0"/>
              <a:t>When </a:t>
            </a:r>
            <a:r>
              <a:rPr lang="en-GB" dirty="0" err="1"/>
              <a:t>collected,rainwater</a:t>
            </a:r>
            <a:r>
              <a:rPr lang="en-GB" dirty="0"/>
              <a:t> can be used for garden irrigation, toilet flushing, and even in </a:t>
            </a:r>
          </a:p>
          <a:p>
            <a:pPr marL="0" indent="0">
              <a:buNone/>
            </a:pPr>
            <a:r>
              <a:rPr lang="en-GB" dirty="0"/>
              <a:t>washing machines.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111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4181A-7C33-2C84-3596-F65CE3FB1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CONCLUSION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F5139-781B-F036-1BD1-3D26F0A4E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</a:t>
            </a:r>
            <a:r>
              <a:rPr lang="en-US" dirty="0"/>
              <a:t>n conclusion, controlling water pollution is a global challenge that</a:t>
            </a:r>
            <a:r>
              <a:rPr lang="en-GB" dirty="0"/>
              <a:t> </a:t>
            </a:r>
            <a:r>
              <a:rPr lang="en-US" dirty="0"/>
              <a:t>requires a collaborative </a:t>
            </a:r>
          </a:p>
          <a:p>
            <a:pPr marL="0" indent="0">
              <a:buNone/>
            </a:pPr>
            <a:r>
              <a:rPr lang="en-US" dirty="0"/>
              <a:t>approach from governments, industries, communities, and individuals. By taking </a:t>
            </a:r>
            <a:r>
              <a:rPr lang="en-US" dirty="0" err="1"/>
              <a:t>stepsto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reduce water pollution, we can ensure that </a:t>
            </a:r>
            <a:r>
              <a:rPr lang="en-US" dirty="0" err="1"/>
              <a:t>waterremains</a:t>
            </a:r>
            <a:r>
              <a:rPr lang="en-US" dirty="0"/>
              <a:t> a safe and sustainable resource </a:t>
            </a:r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generationsto</a:t>
            </a:r>
            <a:r>
              <a:rPr lang="en-US" dirty="0"/>
              <a:t> come. we can contribute to a more resilient and sustainable society while </a:t>
            </a:r>
          </a:p>
          <a:p>
            <a:pPr marL="0" indent="0">
              <a:buNone/>
            </a:pPr>
            <a:r>
              <a:rPr lang="en-US" dirty="0"/>
              <a:t>also saving money on our water bills. It is </a:t>
            </a:r>
            <a:r>
              <a:rPr lang="en-US" dirty="0" err="1"/>
              <a:t>essentialthat</a:t>
            </a:r>
            <a:r>
              <a:rPr lang="en-US" dirty="0"/>
              <a:t> we </a:t>
            </a:r>
            <a:r>
              <a:rPr lang="en-US" dirty="0" err="1"/>
              <a:t>alltake</a:t>
            </a:r>
            <a:r>
              <a:rPr lang="en-US" dirty="0"/>
              <a:t> responsibility and make </a:t>
            </a:r>
          </a:p>
          <a:p>
            <a:pPr marL="0" indent="0">
              <a:buNone/>
            </a:pPr>
            <a:r>
              <a:rPr lang="en-US" dirty="0"/>
              <a:t>a concerted effort to conserve water in our daily lives.</a:t>
            </a:r>
          </a:p>
        </p:txBody>
      </p:sp>
    </p:spTree>
    <p:extLst>
      <p:ext uri="{BB962C8B-B14F-4D97-AF65-F5344CB8AC3E}">
        <p14:creationId xmlns:p14="http://schemas.microsoft.com/office/powerpoint/2010/main" val="38644963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51BF4-74BA-E508-3800-22F595C2B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SOUTH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INDIAN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CUISINE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C9092-DD7C-4E0E-5187-0BCB0D968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Southern Indian cuisine is not typically found on many Indian restaurant menus and</a:t>
            </a:r>
          </a:p>
          <a:p>
            <a:pPr marL="0" indent="0">
              <a:buNone/>
            </a:pPr>
            <a:r>
              <a:rPr lang="en-US" dirty="0"/>
              <a:t>differs greatly from other regions. Its "curries" contrast differently in their textures and</a:t>
            </a:r>
          </a:p>
          <a:p>
            <a:pPr marL="0" indent="0">
              <a:buNone/>
            </a:pPr>
            <a:r>
              <a:rPr lang="en-US" dirty="0"/>
              <a:t>can typically be categorized according to the drier consistency, or those favoring a</a:t>
            </a:r>
          </a:p>
          <a:p>
            <a:pPr marL="0" indent="0">
              <a:buNone/>
            </a:pPr>
            <a:r>
              <a:rPr lang="en-US" dirty="0"/>
              <a:t>more soupy or stew-like presentation. </a:t>
            </a:r>
            <a:r>
              <a:rPr lang="en-US" dirty="0" err="1"/>
              <a:t>Poriyals</a:t>
            </a:r>
            <a:r>
              <a:rPr lang="en-US" dirty="0"/>
              <a:t>, dry curries consisting of a variety of</a:t>
            </a:r>
          </a:p>
          <a:p>
            <a:pPr marL="0" indent="0">
              <a:buNone/>
            </a:pPr>
            <a:r>
              <a:rPr lang="en-US" dirty="0"/>
              <a:t>vegetables and spices, accompany rice dishes. Sambars, </a:t>
            </a:r>
            <a:r>
              <a:rPr lang="en-US" dirty="0" err="1"/>
              <a:t>rasams</a:t>
            </a:r>
            <a:r>
              <a:rPr lang="en-US" dirty="0"/>
              <a:t>, and </a:t>
            </a:r>
            <a:r>
              <a:rPr lang="en-US" dirty="0" err="1"/>
              <a:t>kootus</a:t>
            </a:r>
            <a:r>
              <a:rPr lang="en-US" dirty="0"/>
              <a:t>, three</a:t>
            </a:r>
          </a:p>
          <a:p>
            <a:pPr marL="0" indent="0">
              <a:buNone/>
            </a:pPr>
            <a:r>
              <a:rPr lang="en-US" dirty="0"/>
              <a:t>common stew-like dishes, each differ in their primary ingredients and degrees of</a:t>
            </a:r>
          </a:p>
          <a:p>
            <a:pPr marL="0" indent="0">
              <a:buNone/>
            </a:pPr>
            <a:r>
              <a:rPr lang="en-US" dirty="0"/>
              <a:t>liquidity. Sambars are essentially tamarind flavored pea and vegetable stews that are  more watery than curries from other regions, but are thicker </a:t>
            </a:r>
          </a:p>
          <a:p>
            <a:pPr marL="0" indent="0">
              <a:buNone/>
            </a:pPr>
            <a:r>
              <a:rPr lang="en-US" dirty="0"/>
              <a:t>than </a:t>
            </a:r>
            <a:r>
              <a:rPr lang="en-US" dirty="0" err="1"/>
              <a:t>rasams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248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34282-AA72-48C3-A735-0C0B4ECD2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FAMOUS DISHES IN KARNATAKA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AF2AA-0A25-4D00-8FE4-9112887E1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9004"/>
            <a:ext cx="10515600" cy="5363871"/>
          </a:xfrm>
        </p:spPr>
        <p:txBody>
          <a:bodyPr>
            <a:normAutofit fontScale="85000" lnSpcReduction="20000"/>
          </a:bodyPr>
          <a:lstStyle/>
          <a:p>
            <a:r>
              <a:rPr lang="en-US" sz="1800" dirty="0"/>
              <a:t>1. </a:t>
            </a:r>
            <a:r>
              <a:rPr lang="en-US" sz="1800" dirty="0" err="1"/>
              <a:t>Rotti</a:t>
            </a:r>
            <a:r>
              <a:rPr lang="en-US" sz="1800" dirty="0"/>
              <a:t> </a:t>
            </a:r>
            <a:r>
              <a:rPr lang="en-US" sz="1800" dirty="0" err="1"/>
              <a:t>chiken</a:t>
            </a:r>
            <a:r>
              <a:rPr lang="en-US" sz="1800" dirty="0"/>
              <a:t> curry</a:t>
            </a:r>
          </a:p>
          <a:p>
            <a:r>
              <a:rPr lang="en-US" sz="1800" dirty="0"/>
              <a:t>2.Ragi </a:t>
            </a:r>
            <a:r>
              <a:rPr lang="en-US" sz="1800" dirty="0" err="1"/>
              <a:t>Mudde</a:t>
            </a:r>
            <a:endParaRPr lang="en-US" sz="1800" dirty="0"/>
          </a:p>
          <a:p>
            <a:r>
              <a:rPr lang="en-US" sz="1800" dirty="0"/>
              <a:t>3. Mysore Masala </a:t>
            </a:r>
            <a:r>
              <a:rPr lang="en-US" sz="1800" dirty="0" err="1"/>
              <a:t>Dosa</a:t>
            </a:r>
            <a:endParaRPr lang="en-US" sz="1800" dirty="0"/>
          </a:p>
          <a:p>
            <a:r>
              <a:rPr lang="en-US" sz="1800" dirty="0"/>
              <a:t>4. </a:t>
            </a:r>
            <a:r>
              <a:rPr lang="en-US" sz="1800" dirty="0" err="1"/>
              <a:t>Neer</a:t>
            </a:r>
            <a:r>
              <a:rPr lang="en-US" sz="1800" dirty="0"/>
              <a:t> </a:t>
            </a:r>
            <a:r>
              <a:rPr lang="en-US" sz="1800" dirty="0" err="1"/>
              <a:t>Dosa</a:t>
            </a:r>
            <a:endParaRPr lang="en-US" sz="1800" dirty="0"/>
          </a:p>
          <a:p>
            <a:r>
              <a:rPr lang="en-US" sz="1800" dirty="0"/>
              <a:t>5. </a:t>
            </a:r>
            <a:r>
              <a:rPr lang="en-US" sz="1800" dirty="0" err="1"/>
              <a:t>Idli</a:t>
            </a:r>
            <a:endParaRPr lang="en-US" sz="1800" dirty="0"/>
          </a:p>
          <a:p>
            <a:r>
              <a:rPr lang="en-US" sz="1800" dirty="0"/>
              <a:t>6. Mysore Pak</a:t>
            </a:r>
          </a:p>
          <a:p>
            <a:r>
              <a:rPr lang="en-US" sz="1800" dirty="0"/>
              <a:t>7. </a:t>
            </a:r>
            <a:r>
              <a:rPr lang="en-US" sz="1800" dirty="0" err="1"/>
              <a:t>Maddur</a:t>
            </a:r>
            <a:r>
              <a:rPr lang="en-US" sz="1800" dirty="0"/>
              <a:t> Vada</a:t>
            </a:r>
          </a:p>
          <a:p>
            <a:r>
              <a:rPr lang="en-US" sz="1800" dirty="0"/>
              <a:t>8.Akki </a:t>
            </a:r>
            <a:r>
              <a:rPr lang="en-US" sz="1800" dirty="0" err="1"/>
              <a:t>Rotti</a:t>
            </a:r>
            <a:endParaRPr lang="en-US" sz="1800" dirty="0"/>
          </a:p>
          <a:p>
            <a:r>
              <a:rPr lang="en-US" sz="1800" dirty="0"/>
              <a:t>9.Kesari Bath</a:t>
            </a:r>
          </a:p>
          <a:p>
            <a:r>
              <a:rPr lang="en-US" sz="1800" dirty="0"/>
              <a:t>10.Chiroti</a:t>
            </a:r>
          </a:p>
          <a:p>
            <a:r>
              <a:rPr lang="en-US" sz="1800" dirty="0"/>
              <a:t>11. </a:t>
            </a:r>
            <a:r>
              <a:rPr lang="en-US" sz="1800" dirty="0" err="1"/>
              <a:t>Thatte</a:t>
            </a:r>
            <a:r>
              <a:rPr lang="en-US" sz="1800" dirty="0"/>
              <a:t> </a:t>
            </a:r>
            <a:r>
              <a:rPr lang="en-US" sz="1800" dirty="0" err="1"/>
              <a:t>Idli</a:t>
            </a:r>
            <a:endParaRPr lang="en-US" sz="1800" dirty="0"/>
          </a:p>
          <a:p>
            <a:r>
              <a:rPr lang="en-US" sz="1800" dirty="0"/>
              <a:t>12. Mangalore Buns</a:t>
            </a:r>
          </a:p>
          <a:p>
            <a:r>
              <a:rPr lang="en-US" sz="1800" dirty="0"/>
              <a:t>13. Kane </a:t>
            </a:r>
            <a:r>
              <a:rPr lang="en-US" sz="1800" dirty="0" err="1"/>
              <a:t>Rawa</a:t>
            </a:r>
            <a:r>
              <a:rPr lang="en-US" sz="1800" dirty="0"/>
              <a:t> Fry</a:t>
            </a:r>
          </a:p>
          <a:p>
            <a:r>
              <a:rPr lang="en-US" sz="1800" dirty="0"/>
              <a:t>14.Goli </a:t>
            </a:r>
            <a:r>
              <a:rPr lang="en-US" sz="1800" dirty="0" err="1"/>
              <a:t>Baje</a:t>
            </a: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7716E5-1D9B-4E0F-ADDE-616186C80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701" y="1129004"/>
            <a:ext cx="2847975" cy="1600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C41B8A-2EB0-4BFE-A6E0-459376BC9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803" y="1129005"/>
            <a:ext cx="1743075" cy="17892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28636A-8B3D-4838-845F-F3910D44F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4488" y="1129003"/>
            <a:ext cx="2619375" cy="17430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1C9ADF-BE7A-4AFF-A562-2BB8C56B4E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8930" y="2872078"/>
            <a:ext cx="2505075" cy="18192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06A276-446E-456C-80A0-4F566C0C42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5360" y="3114385"/>
            <a:ext cx="2619375" cy="17430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5F6E61-EB1B-4E3C-8E74-E947C9256E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90738" y="3036242"/>
            <a:ext cx="2143125" cy="2133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EA25A9-5155-4E08-836E-91BDFE14F8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2925" y="4834227"/>
            <a:ext cx="1743075" cy="18133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2041EE-6700-4811-8FC3-1716CF6DF94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3200" y="4990718"/>
            <a:ext cx="28575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0604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A5793-C9C9-4DF4-8EFA-C7E7C3917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HEALTH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BENEFITS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OF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MYSORE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PAK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11661-DED4-4EE9-BDFA-910398F1B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Rich in Protein: Gram flour is relatively high in protein compared to other flours, making it a good source of plant-based protein.</a:t>
            </a:r>
          </a:p>
          <a:p>
            <a:r>
              <a:rPr lang="en-US" dirty="0"/>
              <a:t>Gluten-Free: Gram flour is naturally gluten-free, making Mysore Pak suitable for those with gluten sensitivities or celiac disease.</a:t>
            </a:r>
          </a:p>
          <a:p>
            <a:r>
              <a:rPr lang="en-US" dirty="0"/>
              <a:t>Rich in Vitamins and Minerals: Gram flour contains various vitamins and </a:t>
            </a:r>
            <a:r>
              <a:rPr lang="en-US" dirty="0" err="1"/>
              <a:t>minerals,including</a:t>
            </a:r>
            <a:r>
              <a:rPr lang="en-US" dirty="0"/>
              <a:t> B vitamins, iron, magnesium, and phosphorus.</a:t>
            </a:r>
          </a:p>
          <a:p>
            <a:r>
              <a:rPr lang="en-US" dirty="0"/>
              <a:t>High in Dietary Fiber: Gram flour is rich in dietary fiber, which </a:t>
            </a:r>
            <a:r>
              <a:rPr lang="en-US" dirty="0" err="1"/>
              <a:t>canaid</a:t>
            </a:r>
            <a:r>
              <a:rPr lang="en-US" dirty="0"/>
              <a:t> indigestion and promote a feeling of fullness.</a:t>
            </a:r>
          </a:p>
        </p:txBody>
      </p:sp>
    </p:spTree>
    <p:extLst>
      <p:ext uri="{BB962C8B-B14F-4D97-AF65-F5344CB8AC3E}">
        <p14:creationId xmlns:p14="http://schemas.microsoft.com/office/powerpoint/2010/main" val="1019932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6F77F-3F17-42BA-86B0-0C2B27348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D721C-D081-4E33-940C-EFAB6D061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Tourism as an industry deals with the socio-economic and cultural</a:t>
            </a:r>
          </a:p>
          <a:p>
            <a:r>
              <a:rPr lang="en-US" dirty="0"/>
              <a:t>wonders of a destination, motivating people to travel to different places,</a:t>
            </a:r>
          </a:p>
          <a:p>
            <a:r>
              <a:rPr lang="en-US" dirty="0"/>
              <a:t>states, and countries away from their usual place of residence. This</a:t>
            </a:r>
          </a:p>
          <a:p>
            <a:r>
              <a:rPr lang="en-US" dirty="0"/>
              <a:t>movement of people may be categorized into </a:t>
            </a:r>
            <a:r>
              <a:rPr lang="en-US" dirty="0" err="1"/>
              <a:t>travellers</a:t>
            </a:r>
            <a:r>
              <a:rPr lang="en-US" dirty="0"/>
              <a:t>, tourists, and</a:t>
            </a:r>
          </a:p>
          <a:p>
            <a:r>
              <a:rPr lang="en-US" dirty="0"/>
              <a:t>excursionists who are involved in some kind of activity implying tourism</a:t>
            </a:r>
          </a:p>
          <a:p>
            <a:r>
              <a:rPr lang="en-US" dirty="0" err="1"/>
              <a:t>expenditure.The</a:t>
            </a:r>
            <a:r>
              <a:rPr lang="en-US" dirty="0"/>
              <a:t> current study relates to the role of Food Tours in</a:t>
            </a:r>
          </a:p>
          <a:p>
            <a:r>
              <a:rPr lang="en-US" dirty="0"/>
              <a:t>promoting the local food of a place, here, specifically Shimla. The study</a:t>
            </a:r>
          </a:p>
          <a:p>
            <a:r>
              <a:rPr lang="en-US" dirty="0"/>
              <a:t>focuses on examining three objectives. </a:t>
            </a:r>
          </a:p>
        </p:txBody>
      </p:sp>
    </p:spTree>
    <p:extLst>
      <p:ext uri="{BB962C8B-B14F-4D97-AF65-F5344CB8AC3E}">
        <p14:creationId xmlns:p14="http://schemas.microsoft.com/office/powerpoint/2010/main" val="1852765667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23C5FE65-18CC-4A65-9EBC-B05E331504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</TotalTime>
  <Words>2056</Words>
  <Application>Microsoft Office PowerPoint</Application>
  <PresentationFormat>Widescreen</PresentationFormat>
  <Paragraphs>207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Century Schoolbook</vt:lpstr>
      <vt:lpstr>Times New Roman</vt:lpstr>
      <vt:lpstr>Wingdings 2</vt:lpstr>
      <vt:lpstr>View</vt:lpstr>
      <vt:lpstr>VISVESVARAYA TECHNOLOGICAL UNIVERSITY JNANA SANGAMA BELAGAVI-590018    SOCIAL CONNECT AND RESPONSIBILITIES(BSCK3O7)</vt:lpstr>
      <vt:lpstr>SOCIAL CONNECT AND RESPONSIBILITIES</vt:lpstr>
      <vt:lpstr>PLANTATION AND  ADOPTION OF TREE</vt:lpstr>
      <vt:lpstr>ROSES</vt:lpstr>
      <vt:lpstr>INTRODUCTION </vt:lpstr>
      <vt:lpstr>LEAVES </vt:lpstr>
      <vt:lpstr>STEM</vt:lpstr>
      <vt:lpstr>FLOWERS</vt:lpstr>
      <vt:lpstr>HABITAT AND CULTIVATION </vt:lpstr>
      <vt:lpstr>COMMON SPECIES </vt:lpstr>
      <vt:lpstr>HERITAGE WALK AND CRAFTS CORNER </vt:lpstr>
      <vt:lpstr>CHENNAKESHAVA TEMPLE</vt:lpstr>
      <vt:lpstr>ARCHITECTURAL SIGNIFICANCE</vt:lpstr>
      <vt:lpstr>Three shrines </vt:lpstr>
      <vt:lpstr>CULTURAL AND RELIGIOUS IMPORTANCE </vt:lpstr>
      <vt:lpstr>CONCLUSION </vt:lpstr>
      <vt:lpstr>ORGANIC FARMING AND WASTE MANAGEMENT </vt:lpstr>
      <vt:lpstr>INTRODUCTION </vt:lpstr>
      <vt:lpstr> </vt:lpstr>
      <vt:lpstr>Water Conservation &amp; Management (WCM) is a collaborated publishing  projectunder VOLKSON PRESS and Zibeline International</vt:lpstr>
      <vt:lpstr>OBJECTIVE </vt:lpstr>
      <vt:lpstr>IMPORTANCE OF WATER CONSERVATION  </vt:lpstr>
      <vt:lpstr>WATER SCARCITY </vt:lpstr>
      <vt:lpstr>RAIN WATER HARVESTING </vt:lpstr>
      <vt:lpstr>CONCLUSION </vt:lpstr>
      <vt:lpstr>SOUTH INDIAN CUISINE</vt:lpstr>
      <vt:lpstr>FAMOUS DISHES IN KARNATAKA </vt:lpstr>
      <vt:lpstr>HEALTH BENEFITS OF MYSORE PAK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Poornika R</dc:creator>
  <cp:lastModifiedBy>spandanaspandu907@gmail.com</cp:lastModifiedBy>
  <cp:revision>14</cp:revision>
  <dcterms:created xsi:type="dcterms:W3CDTF">2026-01-01T05:43:11Z</dcterms:created>
  <dcterms:modified xsi:type="dcterms:W3CDTF">2026-01-05T09:35:10Z</dcterms:modified>
</cp:coreProperties>
</file>